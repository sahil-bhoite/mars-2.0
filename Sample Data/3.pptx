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1435100"/>
            <a:ext cx="5739765" cy="20320"/>
            <a:chOff x="914400" y="1435100"/>
            <a:chExt cx="5739765" cy="20320"/>
          </a:xfrm>
        </p:grpSpPr>
        <p:sp>
          <p:nvSpPr>
            <p:cNvPr id="3" name="object 3" descr=""/>
            <p:cNvSpPr/>
            <p:nvPr/>
          </p:nvSpPr>
          <p:spPr>
            <a:xfrm>
              <a:off x="914400" y="1435099"/>
              <a:ext cx="5734050" cy="19050"/>
            </a:xfrm>
            <a:custGeom>
              <a:avLst/>
              <a:gdLst/>
              <a:ahLst/>
              <a:cxnLst/>
              <a:rect l="l" t="t" r="r" b="b"/>
              <a:pathLst>
                <a:path w="5734050" h="19050">
                  <a:moveTo>
                    <a:pt x="573405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5734050" y="19050"/>
                  </a:lnTo>
                  <a:lnTo>
                    <a:pt x="573405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647434" y="143611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50" y="63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15035" y="1436115"/>
              <a:ext cx="5739130" cy="12700"/>
            </a:xfrm>
            <a:custGeom>
              <a:avLst/>
              <a:gdLst/>
              <a:ahLst/>
              <a:cxnLst/>
              <a:rect l="l" t="t" r="r" b="b"/>
              <a:pathLst>
                <a:path w="5739130" h="12700">
                  <a:moveTo>
                    <a:pt x="6350" y="6350"/>
                  </a:moveTo>
                  <a:lnTo>
                    <a:pt x="0" y="6350"/>
                  </a:lnTo>
                  <a:lnTo>
                    <a:pt x="0" y="12700"/>
                  </a:lnTo>
                  <a:lnTo>
                    <a:pt x="6350" y="12700"/>
                  </a:lnTo>
                  <a:lnTo>
                    <a:pt x="6350" y="6350"/>
                  </a:lnTo>
                  <a:close/>
                </a:path>
                <a:path w="5739130" h="12700">
                  <a:moveTo>
                    <a:pt x="5738736" y="0"/>
                  </a:moveTo>
                  <a:lnTo>
                    <a:pt x="5732386" y="0"/>
                  </a:lnTo>
                  <a:lnTo>
                    <a:pt x="5732386" y="6350"/>
                  </a:lnTo>
                  <a:lnTo>
                    <a:pt x="5738736" y="6350"/>
                  </a:lnTo>
                  <a:lnTo>
                    <a:pt x="573873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647434" y="144246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50" y="63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15035" y="1448816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50" y="63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15035" y="1448815"/>
              <a:ext cx="5739130" cy="6350"/>
            </a:xfrm>
            <a:custGeom>
              <a:avLst/>
              <a:gdLst/>
              <a:ahLst/>
              <a:cxnLst/>
              <a:rect l="l" t="t" r="r" b="b"/>
              <a:pathLst>
                <a:path w="5739130" h="6350">
                  <a:moveTo>
                    <a:pt x="5738736" y="0"/>
                  </a:moveTo>
                  <a:lnTo>
                    <a:pt x="5732513" y="0"/>
                  </a:lnTo>
                  <a:lnTo>
                    <a:pt x="5732386" y="0"/>
                  </a:lnTo>
                  <a:lnTo>
                    <a:pt x="635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6350" y="6350"/>
                  </a:lnTo>
                  <a:lnTo>
                    <a:pt x="5732386" y="6350"/>
                  </a:lnTo>
                  <a:lnTo>
                    <a:pt x="5732513" y="6350"/>
                  </a:lnTo>
                  <a:lnTo>
                    <a:pt x="5738736" y="6350"/>
                  </a:lnTo>
                  <a:lnTo>
                    <a:pt x="573873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914400" y="2565400"/>
            <a:ext cx="5739765" cy="20955"/>
            <a:chOff x="914400" y="2565400"/>
            <a:chExt cx="5739765" cy="20955"/>
          </a:xfrm>
        </p:grpSpPr>
        <p:sp>
          <p:nvSpPr>
            <p:cNvPr id="10" name="object 10" descr=""/>
            <p:cNvSpPr/>
            <p:nvPr/>
          </p:nvSpPr>
          <p:spPr>
            <a:xfrm>
              <a:off x="914400" y="2565399"/>
              <a:ext cx="5734050" cy="19050"/>
            </a:xfrm>
            <a:custGeom>
              <a:avLst/>
              <a:gdLst/>
              <a:ahLst/>
              <a:cxnLst/>
              <a:rect l="l" t="t" r="r" b="b"/>
              <a:pathLst>
                <a:path w="5734050" h="19050">
                  <a:moveTo>
                    <a:pt x="573405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5734050" y="19050"/>
                  </a:lnTo>
                  <a:lnTo>
                    <a:pt x="573405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647434" y="2566923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50" y="63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915035" y="2566923"/>
              <a:ext cx="5739130" cy="12700"/>
            </a:xfrm>
            <a:custGeom>
              <a:avLst/>
              <a:gdLst/>
              <a:ahLst/>
              <a:cxnLst/>
              <a:rect l="l" t="t" r="r" b="b"/>
              <a:pathLst>
                <a:path w="5739130" h="12700">
                  <a:moveTo>
                    <a:pt x="6350" y="6350"/>
                  </a:moveTo>
                  <a:lnTo>
                    <a:pt x="0" y="6350"/>
                  </a:lnTo>
                  <a:lnTo>
                    <a:pt x="0" y="12700"/>
                  </a:lnTo>
                  <a:lnTo>
                    <a:pt x="6350" y="12700"/>
                  </a:lnTo>
                  <a:lnTo>
                    <a:pt x="6350" y="6350"/>
                  </a:lnTo>
                  <a:close/>
                </a:path>
                <a:path w="5739130" h="12700">
                  <a:moveTo>
                    <a:pt x="5738736" y="0"/>
                  </a:moveTo>
                  <a:lnTo>
                    <a:pt x="5732386" y="0"/>
                  </a:lnTo>
                  <a:lnTo>
                    <a:pt x="5732386" y="6350"/>
                  </a:lnTo>
                  <a:lnTo>
                    <a:pt x="5738736" y="6350"/>
                  </a:lnTo>
                  <a:lnTo>
                    <a:pt x="573873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647434" y="2573274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50" y="63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915035" y="2579624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50" y="63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15035" y="2579623"/>
              <a:ext cx="5739130" cy="6350"/>
            </a:xfrm>
            <a:custGeom>
              <a:avLst/>
              <a:gdLst/>
              <a:ahLst/>
              <a:cxnLst/>
              <a:rect l="l" t="t" r="r" b="b"/>
              <a:pathLst>
                <a:path w="5739130" h="6350">
                  <a:moveTo>
                    <a:pt x="5738736" y="0"/>
                  </a:moveTo>
                  <a:lnTo>
                    <a:pt x="5732513" y="0"/>
                  </a:lnTo>
                  <a:lnTo>
                    <a:pt x="5732386" y="0"/>
                  </a:lnTo>
                  <a:lnTo>
                    <a:pt x="635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6350" y="6350"/>
                  </a:lnTo>
                  <a:lnTo>
                    <a:pt x="5732386" y="6350"/>
                  </a:lnTo>
                  <a:lnTo>
                    <a:pt x="5732513" y="6350"/>
                  </a:lnTo>
                  <a:lnTo>
                    <a:pt x="5738736" y="6350"/>
                  </a:lnTo>
                  <a:lnTo>
                    <a:pt x="573873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914400" y="4356100"/>
            <a:ext cx="5739765" cy="21590"/>
            <a:chOff x="914400" y="4356100"/>
            <a:chExt cx="5739765" cy="21590"/>
          </a:xfrm>
        </p:grpSpPr>
        <p:sp>
          <p:nvSpPr>
            <p:cNvPr id="17" name="object 17" descr=""/>
            <p:cNvSpPr/>
            <p:nvPr/>
          </p:nvSpPr>
          <p:spPr>
            <a:xfrm>
              <a:off x="914400" y="4356099"/>
              <a:ext cx="5734050" cy="19050"/>
            </a:xfrm>
            <a:custGeom>
              <a:avLst/>
              <a:gdLst/>
              <a:ahLst/>
              <a:cxnLst/>
              <a:rect l="l" t="t" r="r" b="b"/>
              <a:pathLst>
                <a:path w="5734050" h="19050">
                  <a:moveTo>
                    <a:pt x="573405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5734050" y="19050"/>
                  </a:lnTo>
                  <a:lnTo>
                    <a:pt x="573405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647434" y="4358640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50" y="63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915035" y="4358639"/>
              <a:ext cx="5739130" cy="12700"/>
            </a:xfrm>
            <a:custGeom>
              <a:avLst/>
              <a:gdLst/>
              <a:ahLst/>
              <a:cxnLst/>
              <a:rect l="l" t="t" r="r" b="b"/>
              <a:pathLst>
                <a:path w="5739130" h="12700">
                  <a:moveTo>
                    <a:pt x="6350" y="6350"/>
                  </a:moveTo>
                  <a:lnTo>
                    <a:pt x="0" y="6350"/>
                  </a:lnTo>
                  <a:lnTo>
                    <a:pt x="0" y="12700"/>
                  </a:lnTo>
                  <a:lnTo>
                    <a:pt x="6350" y="12700"/>
                  </a:lnTo>
                  <a:lnTo>
                    <a:pt x="6350" y="6350"/>
                  </a:lnTo>
                  <a:close/>
                </a:path>
                <a:path w="5739130" h="12700">
                  <a:moveTo>
                    <a:pt x="5738736" y="0"/>
                  </a:moveTo>
                  <a:lnTo>
                    <a:pt x="5732386" y="0"/>
                  </a:lnTo>
                  <a:lnTo>
                    <a:pt x="5732386" y="6350"/>
                  </a:lnTo>
                  <a:lnTo>
                    <a:pt x="5738736" y="6350"/>
                  </a:lnTo>
                  <a:lnTo>
                    <a:pt x="573873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647434" y="4364989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50" y="63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915035" y="4371340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50" y="63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915035" y="4371339"/>
              <a:ext cx="5739130" cy="6350"/>
            </a:xfrm>
            <a:custGeom>
              <a:avLst/>
              <a:gdLst/>
              <a:ahLst/>
              <a:cxnLst/>
              <a:rect l="l" t="t" r="r" b="b"/>
              <a:pathLst>
                <a:path w="5739130" h="6350">
                  <a:moveTo>
                    <a:pt x="5738736" y="0"/>
                  </a:moveTo>
                  <a:lnTo>
                    <a:pt x="5732513" y="0"/>
                  </a:lnTo>
                  <a:lnTo>
                    <a:pt x="5732386" y="0"/>
                  </a:lnTo>
                  <a:lnTo>
                    <a:pt x="635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6350" y="6350"/>
                  </a:lnTo>
                  <a:lnTo>
                    <a:pt x="5732386" y="6350"/>
                  </a:lnTo>
                  <a:lnTo>
                    <a:pt x="5732513" y="6350"/>
                  </a:lnTo>
                  <a:lnTo>
                    <a:pt x="5738736" y="6350"/>
                  </a:lnTo>
                  <a:lnTo>
                    <a:pt x="573873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 descr=""/>
          <p:cNvGrpSpPr/>
          <p:nvPr/>
        </p:nvGrpSpPr>
        <p:grpSpPr>
          <a:xfrm>
            <a:off x="914400" y="5232400"/>
            <a:ext cx="5739765" cy="22225"/>
            <a:chOff x="914400" y="5232400"/>
            <a:chExt cx="5739765" cy="22225"/>
          </a:xfrm>
        </p:grpSpPr>
        <p:sp>
          <p:nvSpPr>
            <p:cNvPr id="24" name="object 24" descr=""/>
            <p:cNvSpPr/>
            <p:nvPr/>
          </p:nvSpPr>
          <p:spPr>
            <a:xfrm>
              <a:off x="914400" y="5232399"/>
              <a:ext cx="5734050" cy="19050"/>
            </a:xfrm>
            <a:custGeom>
              <a:avLst/>
              <a:gdLst/>
              <a:ahLst/>
              <a:cxnLst/>
              <a:rect l="l" t="t" r="r" b="b"/>
              <a:pathLst>
                <a:path w="5734050" h="19050">
                  <a:moveTo>
                    <a:pt x="573405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5734050" y="19050"/>
                  </a:lnTo>
                  <a:lnTo>
                    <a:pt x="573405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647434" y="523557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50" y="63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915035" y="5235574"/>
              <a:ext cx="5739130" cy="12700"/>
            </a:xfrm>
            <a:custGeom>
              <a:avLst/>
              <a:gdLst/>
              <a:ahLst/>
              <a:cxnLst/>
              <a:rect l="l" t="t" r="r" b="b"/>
              <a:pathLst>
                <a:path w="5739130" h="12700">
                  <a:moveTo>
                    <a:pt x="6350" y="6350"/>
                  </a:moveTo>
                  <a:lnTo>
                    <a:pt x="0" y="6350"/>
                  </a:lnTo>
                  <a:lnTo>
                    <a:pt x="0" y="12700"/>
                  </a:lnTo>
                  <a:lnTo>
                    <a:pt x="6350" y="12700"/>
                  </a:lnTo>
                  <a:lnTo>
                    <a:pt x="6350" y="6350"/>
                  </a:lnTo>
                  <a:close/>
                </a:path>
                <a:path w="5739130" h="12700">
                  <a:moveTo>
                    <a:pt x="5738736" y="0"/>
                  </a:moveTo>
                  <a:lnTo>
                    <a:pt x="5732386" y="0"/>
                  </a:lnTo>
                  <a:lnTo>
                    <a:pt x="5732386" y="6350"/>
                  </a:lnTo>
                  <a:lnTo>
                    <a:pt x="5738736" y="6350"/>
                  </a:lnTo>
                  <a:lnTo>
                    <a:pt x="573873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647434" y="524192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50" y="63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915035" y="524827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50" y="63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915035" y="5248274"/>
              <a:ext cx="5739130" cy="6350"/>
            </a:xfrm>
            <a:custGeom>
              <a:avLst/>
              <a:gdLst/>
              <a:ahLst/>
              <a:cxnLst/>
              <a:rect l="l" t="t" r="r" b="b"/>
              <a:pathLst>
                <a:path w="5739130" h="6350">
                  <a:moveTo>
                    <a:pt x="5738736" y="0"/>
                  </a:moveTo>
                  <a:lnTo>
                    <a:pt x="5732513" y="0"/>
                  </a:lnTo>
                  <a:lnTo>
                    <a:pt x="5732386" y="0"/>
                  </a:lnTo>
                  <a:lnTo>
                    <a:pt x="635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6350" y="6350"/>
                  </a:lnTo>
                  <a:lnTo>
                    <a:pt x="5732386" y="6350"/>
                  </a:lnTo>
                  <a:lnTo>
                    <a:pt x="5732513" y="6350"/>
                  </a:lnTo>
                  <a:lnTo>
                    <a:pt x="5738736" y="6350"/>
                  </a:lnTo>
                  <a:lnTo>
                    <a:pt x="573873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 descr=""/>
          <p:cNvGrpSpPr/>
          <p:nvPr/>
        </p:nvGrpSpPr>
        <p:grpSpPr>
          <a:xfrm>
            <a:off x="914400" y="6407150"/>
            <a:ext cx="5739765" cy="22860"/>
            <a:chOff x="914400" y="6407150"/>
            <a:chExt cx="5739765" cy="22860"/>
          </a:xfrm>
        </p:grpSpPr>
        <p:sp>
          <p:nvSpPr>
            <p:cNvPr id="31" name="object 31" descr=""/>
            <p:cNvSpPr/>
            <p:nvPr/>
          </p:nvSpPr>
          <p:spPr>
            <a:xfrm>
              <a:off x="914400" y="6407149"/>
              <a:ext cx="5734050" cy="19050"/>
            </a:xfrm>
            <a:custGeom>
              <a:avLst/>
              <a:gdLst/>
              <a:ahLst/>
              <a:cxnLst/>
              <a:rect l="l" t="t" r="r" b="b"/>
              <a:pathLst>
                <a:path w="5734050" h="19050">
                  <a:moveTo>
                    <a:pt x="573405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5734050" y="19050"/>
                  </a:lnTo>
                  <a:lnTo>
                    <a:pt x="573405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6647434" y="6410960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50" y="63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915035" y="6410959"/>
              <a:ext cx="5739130" cy="12700"/>
            </a:xfrm>
            <a:custGeom>
              <a:avLst/>
              <a:gdLst/>
              <a:ahLst/>
              <a:cxnLst/>
              <a:rect l="l" t="t" r="r" b="b"/>
              <a:pathLst>
                <a:path w="5739130" h="12700">
                  <a:moveTo>
                    <a:pt x="6350" y="6350"/>
                  </a:moveTo>
                  <a:lnTo>
                    <a:pt x="0" y="6350"/>
                  </a:lnTo>
                  <a:lnTo>
                    <a:pt x="0" y="12700"/>
                  </a:lnTo>
                  <a:lnTo>
                    <a:pt x="6350" y="12700"/>
                  </a:lnTo>
                  <a:lnTo>
                    <a:pt x="6350" y="6350"/>
                  </a:lnTo>
                  <a:close/>
                </a:path>
                <a:path w="5739130" h="12700">
                  <a:moveTo>
                    <a:pt x="5738736" y="0"/>
                  </a:moveTo>
                  <a:lnTo>
                    <a:pt x="5732386" y="0"/>
                  </a:lnTo>
                  <a:lnTo>
                    <a:pt x="5732386" y="6350"/>
                  </a:lnTo>
                  <a:lnTo>
                    <a:pt x="5738736" y="6350"/>
                  </a:lnTo>
                  <a:lnTo>
                    <a:pt x="573873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6647434" y="6417310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50" y="63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915035" y="6423659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50" y="63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915035" y="6423659"/>
              <a:ext cx="5739130" cy="6350"/>
            </a:xfrm>
            <a:custGeom>
              <a:avLst/>
              <a:gdLst/>
              <a:ahLst/>
              <a:cxnLst/>
              <a:rect l="l" t="t" r="r" b="b"/>
              <a:pathLst>
                <a:path w="5739130" h="6350">
                  <a:moveTo>
                    <a:pt x="5738736" y="0"/>
                  </a:moveTo>
                  <a:lnTo>
                    <a:pt x="5732513" y="0"/>
                  </a:lnTo>
                  <a:lnTo>
                    <a:pt x="5732386" y="0"/>
                  </a:lnTo>
                  <a:lnTo>
                    <a:pt x="635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6350" y="6350"/>
                  </a:lnTo>
                  <a:lnTo>
                    <a:pt x="5732386" y="6350"/>
                  </a:lnTo>
                  <a:lnTo>
                    <a:pt x="5732513" y="6350"/>
                  </a:lnTo>
                  <a:lnTo>
                    <a:pt x="5738736" y="6350"/>
                  </a:lnTo>
                  <a:lnTo>
                    <a:pt x="573873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" name="object 37" descr=""/>
          <p:cNvGrpSpPr/>
          <p:nvPr/>
        </p:nvGrpSpPr>
        <p:grpSpPr>
          <a:xfrm>
            <a:off x="914400" y="7575550"/>
            <a:ext cx="5739765" cy="23495"/>
            <a:chOff x="914400" y="7575550"/>
            <a:chExt cx="5739765" cy="23495"/>
          </a:xfrm>
        </p:grpSpPr>
        <p:sp>
          <p:nvSpPr>
            <p:cNvPr id="38" name="object 38" descr=""/>
            <p:cNvSpPr/>
            <p:nvPr/>
          </p:nvSpPr>
          <p:spPr>
            <a:xfrm>
              <a:off x="914400" y="7575549"/>
              <a:ext cx="5734050" cy="19050"/>
            </a:xfrm>
            <a:custGeom>
              <a:avLst/>
              <a:gdLst/>
              <a:ahLst/>
              <a:cxnLst/>
              <a:rect l="l" t="t" r="r" b="b"/>
              <a:pathLst>
                <a:path w="5734050" h="19050">
                  <a:moveTo>
                    <a:pt x="573405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5734050" y="19050"/>
                  </a:lnTo>
                  <a:lnTo>
                    <a:pt x="573405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6647434" y="7579994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915035" y="7579994"/>
              <a:ext cx="5739130" cy="12700"/>
            </a:xfrm>
            <a:custGeom>
              <a:avLst/>
              <a:gdLst/>
              <a:ahLst/>
              <a:cxnLst/>
              <a:rect l="l" t="t" r="r" b="b"/>
              <a:pathLst>
                <a:path w="5739130" h="12700">
                  <a:moveTo>
                    <a:pt x="6350" y="6350"/>
                  </a:moveTo>
                  <a:lnTo>
                    <a:pt x="0" y="6350"/>
                  </a:lnTo>
                  <a:lnTo>
                    <a:pt x="0" y="12700"/>
                  </a:lnTo>
                  <a:lnTo>
                    <a:pt x="6350" y="12700"/>
                  </a:lnTo>
                  <a:lnTo>
                    <a:pt x="6350" y="6350"/>
                  </a:lnTo>
                  <a:close/>
                </a:path>
                <a:path w="5739130" h="12700">
                  <a:moveTo>
                    <a:pt x="5738736" y="0"/>
                  </a:moveTo>
                  <a:lnTo>
                    <a:pt x="5732386" y="0"/>
                  </a:lnTo>
                  <a:lnTo>
                    <a:pt x="5732386" y="6350"/>
                  </a:lnTo>
                  <a:lnTo>
                    <a:pt x="5738736" y="6350"/>
                  </a:lnTo>
                  <a:lnTo>
                    <a:pt x="573873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647434" y="758634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915035" y="759269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915035" y="7592694"/>
              <a:ext cx="5739130" cy="6350"/>
            </a:xfrm>
            <a:custGeom>
              <a:avLst/>
              <a:gdLst/>
              <a:ahLst/>
              <a:cxnLst/>
              <a:rect l="l" t="t" r="r" b="b"/>
              <a:pathLst>
                <a:path w="5739130" h="6350">
                  <a:moveTo>
                    <a:pt x="5738736" y="0"/>
                  </a:moveTo>
                  <a:lnTo>
                    <a:pt x="5732513" y="0"/>
                  </a:lnTo>
                  <a:lnTo>
                    <a:pt x="5732386" y="0"/>
                  </a:lnTo>
                  <a:lnTo>
                    <a:pt x="635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6350" y="6350"/>
                  </a:lnTo>
                  <a:lnTo>
                    <a:pt x="5732386" y="6350"/>
                  </a:lnTo>
                  <a:lnTo>
                    <a:pt x="5732513" y="6350"/>
                  </a:lnTo>
                  <a:lnTo>
                    <a:pt x="5738736" y="6350"/>
                  </a:lnTo>
                  <a:lnTo>
                    <a:pt x="573873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 txBox="1"/>
          <p:nvPr/>
        </p:nvSpPr>
        <p:spPr>
          <a:xfrm>
            <a:off x="902335" y="889634"/>
            <a:ext cx="5509895" cy="82130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4765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Agentic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RAG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System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00" spc="-10" b="1">
                <a:latin typeface="Calibri"/>
                <a:cs typeface="Calibri"/>
              </a:rPr>
              <a:t>Objective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1200"/>
              </a:lnSpc>
              <a:spcBef>
                <a:spcPts val="660"/>
              </a:spcBef>
            </a:pPr>
            <a:r>
              <a:rPr dirty="0" sz="1400" spc="-10">
                <a:latin typeface="Calibri"/>
                <a:cs typeface="Calibri"/>
              </a:rPr>
              <a:t>Build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Agentic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RAG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System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that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uses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AI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agents to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intelligently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retrieve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and </a:t>
            </a:r>
            <a:r>
              <a:rPr dirty="0" sz="1400">
                <a:latin typeface="Calibri"/>
                <a:cs typeface="Calibri"/>
              </a:rPr>
              <a:t>answer</a:t>
            </a:r>
            <a:r>
              <a:rPr dirty="0" sz="1400" spc="-10">
                <a:latin typeface="Calibri"/>
                <a:cs typeface="Calibri"/>
              </a:rPr>
              <a:t> questions </a:t>
            </a:r>
            <a:r>
              <a:rPr dirty="0" sz="1400">
                <a:latin typeface="Calibri"/>
                <a:cs typeface="Calibri"/>
              </a:rPr>
              <a:t>from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documents.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00" spc="-10" b="1">
                <a:latin typeface="Calibri"/>
                <a:cs typeface="Calibri"/>
              </a:rPr>
              <a:t>Requirements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z="1400">
                <a:latin typeface="Calibri"/>
                <a:cs typeface="Calibri"/>
              </a:rPr>
              <a:t>Your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AI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agent-</a:t>
            </a:r>
            <a:r>
              <a:rPr dirty="0" sz="1400">
                <a:latin typeface="Calibri"/>
                <a:cs typeface="Calibri"/>
              </a:rPr>
              <a:t>powered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system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must:</a:t>
            </a:r>
            <a:endParaRPr sz="1400">
              <a:latin typeface="Calibri"/>
              <a:cs typeface="Calibri"/>
            </a:endParaRPr>
          </a:p>
          <a:p>
            <a:pPr marL="467995" indent="-226695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467995" algn="l"/>
              </a:tabLst>
            </a:pPr>
            <a:r>
              <a:rPr dirty="0" sz="1400" spc="-10">
                <a:latin typeface="Calibri"/>
                <a:cs typeface="Calibri"/>
              </a:rPr>
              <a:t>Ingest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from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specified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sources</a:t>
            </a:r>
            <a:endParaRPr sz="1400">
              <a:latin typeface="Calibri"/>
              <a:cs typeface="Calibri"/>
            </a:endParaRPr>
          </a:p>
          <a:p>
            <a:pPr marL="467995" indent="-226695">
              <a:lnSpc>
                <a:spcPct val="100000"/>
              </a:lnSpc>
              <a:spcBef>
                <a:spcPts val="620"/>
              </a:spcBef>
              <a:buAutoNum type="arabicPeriod"/>
              <a:tabLst>
                <a:tab pos="467995" algn="l"/>
              </a:tabLst>
            </a:pPr>
            <a:r>
              <a:rPr dirty="0" sz="1400">
                <a:latin typeface="Calibri"/>
                <a:cs typeface="Calibri"/>
              </a:rPr>
              <a:t>Store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information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vector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database</a:t>
            </a:r>
            <a:endParaRPr sz="1400">
              <a:latin typeface="Calibri"/>
              <a:cs typeface="Calibri"/>
            </a:endParaRPr>
          </a:p>
          <a:p>
            <a:pPr marL="467995" indent="-226695">
              <a:lnSpc>
                <a:spcPct val="100000"/>
              </a:lnSpc>
              <a:spcBef>
                <a:spcPts val="620"/>
              </a:spcBef>
              <a:buAutoNum type="arabicPeriod"/>
              <a:tabLst>
                <a:tab pos="467995" algn="l"/>
              </a:tabLst>
            </a:pPr>
            <a:r>
              <a:rPr dirty="0" sz="1400">
                <a:latin typeface="Calibri"/>
                <a:cs typeface="Calibri"/>
              </a:rPr>
              <a:t>Use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agentic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workflows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answer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user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queries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4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buAutoNum type="arabicPeriod"/>
              <a:tabLst>
                <a:tab pos="189230" algn="l"/>
              </a:tabLst>
            </a:pPr>
            <a:r>
              <a:rPr dirty="0" sz="1400" b="1">
                <a:latin typeface="Calibri"/>
                <a:cs typeface="Calibri"/>
              </a:rPr>
              <a:t>Agentic</a:t>
            </a:r>
            <a:r>
              <a:rPr dirty="0" sz="1400" spc="-6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Workflow</a:t>
            </a:r>
            <a:endParaRPr sz="14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620"/>
              </a:spcBef>
              <a:buSzPct val="71428"/>
              <a:buFont typeface="Symbol"/>
              <a:buChar char=""/>
              <a:tabLst>
                <a:tab pos="469900" algn="l"/>
              </a:tabLst>
            </a:pPr>
            <a:r>
              <a:rPr dirty="0" sz="1400" spc="-10">
                <a:latin typeface="Calibri"/>
                <a:cs typeface="Calibri"/>
              </a:rPr>
              <a:t>Demonstrate</a:t>
            </a:r>
            <a:r>
              <a:rPr dirty="0" sz="140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agentic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behaviour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query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processing</a:t>
            </a:r>
            <a:endParaRPr sz="1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215"/>
              </a:spcBef>
              <a:buFont typeface="Symbol"/>
              <a:buChar char=""/>
            </a:pPr>
            <a:endParaRPr sz="14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buAutoNum type="arabicPeriod"/>
              <a:tabLst>
                <a:tab pos="189230" algn="l"/>
              </a:tabLst>
            </a:pPr>
            <a:r>
              <a:rPr dirty="0" sz="1400" b="1">
                <a:latin typeface="Calibri"/>
                <a:cs typeface="Calibri"/>
              </a:rPr>
              <a:t>RAG</a:t>
            </a:r>
            <a:r>
              <a:rPr dirty="0" sz="1400" spc="-10" b="1">
                <a:latin typeface="Calibri"/>
                <a:cs typeface="Calibri"/>
              </a:rPr>
              <a:t> Implementation</a:t>
            </a:r>
            <a:endParaRPr sz="14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620"/>
              </a:spcBef>
              <a:buSzPct val="71428"/>
              <a:buFont typeface="Symbol"/>
              <a:buChar char=""/>
              <a:tabLst>
                <a:tab pos="469900" algn="l"/>
              </a:tabLst>
            </a:pPr>
            <a:r>
              <a:rPr dirty="0" sz="1400">
                <a:latin typeface="Calibri"/>
                <a:cs typeface="Calibri"/>
              </a:rPr>
              <a:t>Use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any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Vector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Database</a:t>
            </a:r>
            <a:endParaRPr sz="14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670"/>
              </a:spcBef>
              <a:buSzPct val="71428"/>
              <a:buFont typeface="Symbol"/>
              <a:buChar char=""/>
              <a:tabLst>
                <a:tab pos="469900" algn="l"/>
              </a:tabLst>
            </a:pPr>
            <a:r>
              <a:rPr dirty="0" sz="1400" spc="-10">
                <a:latin typeface="Calibri"/>
                <a:cs typeface="Calibri"/>
              </a:rPr>
              <a:t>Data</a:t>
            </a:r>
            <a:r>
              <a:rPr dirty="0" sz="140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Engineering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critical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-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show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your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thinking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processing</a:t>
            </a:r>
            <a:endParaRPr sz="1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215"/>
              </a:spcBef>
              <a:buFont typeface="Symbol"/>
              <a:buChar char=""/>
            </a:pPr>
            <a:endParaRPr sz="14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89230" algn="l"/>
              </a:tabLst>
            </a:pPr>
            <a:r>
              <a:rPr dirty="0" sz="1400" b="1">
                <a:latin typeface="Calibri"/>
                <a:cs typeface="Calibri"/>
              </a:rPr>
              <a:t>LLM </a:t>
            </a:r>
            <a:r>
              <a:rPr dirty="0" sz="1400" spc="-10" b="1">
                <a:latin typeface="Calibri"/>
                <a:cs typeface="Calibri"/>
              </a:rPr>
              <a:t>Integration</a:t>
            </a:r>
            <a:endParaRPr sz="14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620"/>
              </a:spcBef>
              <a:buSzPct val="71428"/>
              <a:buFont typeface="Symbol"/>
              <a:buChar char=""/>
              <a:tabLst>
                <a:tab pos="469900" algn="l"/>
              </a:tabLst>
            </a:pPr>
            <a:r>
              <a:rPr dirty="0" sz="1400">
                <a:latin typeface="Calibri"/>
                <a:cs typeface="Calibri"/>
              </a:rPr>
              <a:t>Use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any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LLM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your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choice</a:t>
            </a:r>
            <a:endParaRPr sz="14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620"/>
              </a:spcBef>
              <a:buSzPct val="71428"/>
              <a:buFont typeface="Symbol"/>
              <a:buChar char=""/>
              <a:tabLst>
                <a:tab pos="469900" algn="l"/>
              </a:tabLst>
            </a:pPr>
            <a:r>
              <a:rPr dirty="0" sz="1400">
                <a:latin typeface="Calibri"/>
                <a:cs typeface="Calibri"/>
              </a:rPr>
              <a:t>Free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APIs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are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acceptable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(e.g.,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Google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Gemini)</a:t>
            </a:r>
            <a:endParaRPr sz="1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260"/>
              </a:spcBef>
              <a:buFont typeface="Symbol"/>
              <a:buChar char=""/>
            </a:pPr>
            <a:endParaRPr sz="14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89230" algn="l"/>
              </a:tabLst>
            </a:pPr>
            <a:r>
              <a:rPr dirty="0" sz="1400" b="1">
                <a:latin typeface="Calibri"/>
                <a:cs typeface="Calibri"/>
              </a:rPr>
              <a:t>Data</a:t>
            </a:r>
            <a:r>
              <a:rPr dirty="0" sz="1400" spc="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Source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400">
                <a:latin typeface="Calibri"/>
                <a:cs typeface="Calibri"/>
              </a:rPr>
              <a:t>System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should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support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following:</a:t>
            </a:r>
            <a:endParaRPr sz="14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620"/>
              </a:spcBef>
              <a:buSzPct val="71428"/>
              <a:buFont typeface="Symbol"/>
              <a:buChar char=""/>
              <a:tabLst>
                <a:tab pos="469900" algn="l"/>
              </a:tabLst>
            </a:pPr>
            <a:r>
              <a:rPr dirty="0" sz="1400" spc="-10">
                <a:latin typeface="Calibri"/>
                <a:cs typeface="Calibri"/>
              </a:rPr>
              <a:t>Documents </a:t>
            </a:r>
            <a:r>
              <a:rPr dirty="0" sz="1400">
                <a:latin typeface="Calibri"/>
                <a:cs typeface="Calibri"/>
              </a:rPr>
              <a:t>(PDF,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DOCX,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PPT)</a:t>
            </a:r>
            <a:endParaRPr sz="14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620"/>
              </a:spcBef>
              <a:buSzPct val="71428"/>
              <a:buFont typeface="Symbol"/>
              <a:buChar char=""/>
              <a:tabLst>
                <a:tab pos="469900" algn="l"/>
              </a:tabLst>
            </a:pPr>
            <a:r>
              <a:rPr dirty="0" sz="1400" spc="-20">
                <a:latin typeface="Calibri"/>
                <a:cs typeface="Calibri"/>
              </a:rPr>
              <a:t>Excel</a:t>
            </a:r>
            <a:endParaRPr sz="14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625"/>
              </a:spcBef>
              <a:buSzPct val="71428"/>
              <a:buFont typeface="Symbol"/>
              <a:buChar char=""/>
              <a:tabLst>
                <a:tab pos="469900" algn="l"/>
              </a:tabLst>
            </a:pPr>
            <a:r>
              <a:rPr dirty="0" sz="1400">
                <a:latin typeface="Calibri"/>
                <a:cs typeface="Calibri"/>
              </a:rPr>
              <a:t>Text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File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5" name="object 45" descr=""/>
          <p:cNvGrpSpPr/>
          <p:nvPr/>
        </p:nvGrpSpPr>
        <p:grpSpPr>
          <a:xfrm>
            <a:off x="914400" y="9340850"/>
            <a:ext cx="5739765" cy="24765"/>
            <a:chOff x="914400" y="9340850"/>
            <a:chExt cx="5739765" cy="24765"/>
          </a:xfrm>
        </p:grpSpPr>
        <p:sp>
          <p:nvSpPr>
            <p:cNvPr id="46" name="object 46" descr=""/>
            <p:cNvSpPr/>
            <p:nvPr/>
          </p:nvSpPr>
          <p:spPr>
            <a:xfrm>
              <a:off x="914400" y="9340849"/>
              <a:ext cx="5734050" cy="19050"/>
            </a:xfrm>
            <a:custGeom>
              <a:avLst/>
              <a:gdLst/>
              <a:ahLst/>
              <a:cxnLst/>
              <a:rect l="l" t="t" r="r" b="b"/>
              <a:pathLst>
                <a:path w="5734050" h="19050">
                  <a:moveTo>
                    <a:pt x="573405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5734050" y="19050"/>
                  </a:lnTo>
                  <a:lnTo>
                    <a:pt x="573405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6647434" y="9346564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915035" y="9346564"/>
              <a:ext cx="5739130" cy="12700"/>
            </a:xfrm>
            <a:custGeom>
              <a:avLst/>
              <a:gdLst/>
              <a:ahLst/>
              <a:cxnLst/>
              <a:rect l="l" t="t" r="r" b="b"/>
              <a:pathLst>
                <a:path w="5739130" h="12700">
                  <a:moveTo>
                    <a:pt x="6350" y="6350"/>
                  </a:moveTo>
                  <a:lnTo>
                    <a:pt x="0" y="6350"/>
                  </a:lnTo>
                  <a:lnTo>
                    <a:pt x="0" y="12700"/>
                  </a:lnTo>
                  <a:lnTo>
                    <a:pt x="6350" y="12700"/>
                  </a:lnTo>
                  <a:lnTo>
                    <a:pt x="6350" y="6350"/>
                  </a:lnTo>
                  <a:close/>
                </a:path>
                <a:path w="5739130" h="12700">
                  <a:moveTo>
                    <a:pt x="5738736" y="0"/>
                  </a:moveTo>
                  <a:lnTo>
                    <a:pt x="5732386" y="0"/>
                  </a:lnTo>
                  <a:lnTo>
                    <a:pt x="5732386" y="6350"/>
                  </a:lnTo>
                  <a:lnTo>
                    <a:pt x="5738736" y="6350"/>
                  </a:lnTo>
                  <a:lnTo>
                    <a:pt x="573873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6647434" y="9352914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915035" y="935926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915035" y="9359264"/>
              <a:ext cx="5739130" cy="6350"/>
            </a:xfrm>
            <a:custGeom>
              <a:avLst/>
              <a:gdLst/>
              <a:ahLst/>
              <a:cxnLst/>
              <a:rect l="l" t="t" r="r" b="b"/>
              <a:pathLst>
                <a:path w="5739130" h="6350">
                  <a:moveTo>
                    <a:pt x="5738736" y="0"/>
                  </a:moveTo>
                  <a:lnTo>
                    <a:pt x="5732513" y="0"/>
                  </a:lnTo>
                  <a:lnTo>
                    <a:pt x="5732386" y="0"/>
                  </a:lnTo>
                  <a:lnTo>
                    <a:pt x="635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6350" y="6350"/>
                  </a:lnTo>
                  <a:lnTo>
                    <a:pt x="5732386" y="6350"/>
                  </a:lnTo>
                  <a:lnTo>
                    <a:pt x="5732513" y="6350"/>
                  </a:lnTo>
                  <a:lnTo>
                    <a:pt x="5738736" y="6350"/>
                  </a:lnTo>
                  <a:lnTo>
                    <a:pt x="573873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3162300"/>
            <a:ext cx="5739765" cy="20955"/>
            <a:chOff x="914400" y="3162300"/>
            <a:chExt cx="5739765" cy="20955"/>
          </a:xfrm>
        </p:grpSpPr>
        <p:sp>
          <p:nvSpPr>
            <p:cNvPr id="3" name="object 3" descr=""/>
            <p:cNvSpPr/>
            <p:nvPr/>
          </p:nvSpPr>
          <p:spPr>
            <a:xfrm>
              <a:off x="914400" y="3162299"/>
              <a:ext cx="5734050" cy="19050"/>
            </a:xfrm>
            <a:custGeom>
              <a:avLst/>
              <a:gdLst/>
              <a:ahLst/>
              <a:cxnLst/>
              <a:rect l="l" t="t" r="r" b="b"/>
              <a:pathLst>
                <a:path w="5734050" h="19050">
                  <a:moveTo>
                    <a:pt x="573405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5734050" y="19050"/>
                  </a:lnTo>
                  <a:lnTo>
                    <a:pt x="573405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647434" y="316420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50" y="63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15035" y="3164204"/>
              <a:ext cx="5739130" cy="12700"/>
            </a:xfrm>
            <a:custGeom>
              <a:avLst/>
              <a:gdLst/>
              <a:ahLst/>
              <a:cxnLst/>
              <a:rect l="l" t="t" r="r" b="b"/>
              <a:pathLst>
                <a:path w="5739130" h="12700">
                  <a:moveTo>
                    <a:pt x="6350" y="6350"/>
                  </a:moveTo>
                  <a:lnTo>
                    <a:pt x="0" y="6350"/>
                  </a:lnTo>
                  <a:lnTo>
                    <a:pt x="0" y="12700"/>
                  </a:lnTo>
                  <a:lnTo>
                    <a:pt x="6350" y="12700"/>
                  </a:lnTo>
                  <a:lnTo>
                    <a:pt x="6350" y="6350"/>
                  </a:lnTo>
                  <a:close/>
                </a:path>
                <a:path w="5739130" h="12700">
                  <a:moveTo>
                    <a:pt x="5738736" y="0"/>
                  </a:moveTo>
                  <a:lnTo>
                    <a:pt x="5732386" y="0"/>
                  </a:lnTo>
                  <a:lnTo>
                    <a:pt x="5732386" y="6350"/>
                  </a:lnTo>
                  <a:lnTo>
                    <a:pt x="5738736" y="6350"/>
                  </a:lnTo>
                  <a:lnTo>
                    <a:pt x="573873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647434" y="3170554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50" y="63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15035" y="3176904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50" y="63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15035" y="3176904"/>
              <a:ext cx="5739130" cy="6350"/>
            </a:xfrm>
            <a:custGeom>
              <a:avLst/>
              <a:gdLst/>
              <a:ahLst/>
              <a:cxnLst/>
              <a:rect l="l" t="t" r="r" b="b"/>
              <a:pathLst>
                <a:path w="5739130" h="6350">
                  <a:moveTo>
                    <a:pt x="5738736" y="0"/>
                  </a:moveTo>
                  <a:lnTo>
                    <a:pt x="5732513" y="0"/>
                  </a:lnTo>
                  <a:lnTo>
                    <a:pt x="5732386" y="0"/>
                  </a:lnTo>
                  <a:lnTo>
                    <a:pt x="635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6350" y="6350"/>
                  </a:lnTo>
                  <a:lnTo>
                    <a:pt x="5732386" y="6350"/>
                  </a:lnTo>
                  <a:lnTo>
                    <a:pt x="5732513" y="6350"/>
                  </a:lnTo>
                  <a:lnTo>
                    <a:pt x="5738736" y="6350"/>
                  </a:lnTo>
                  <a:lnTo>
                    <a:pt x="573873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914400" y="5537200"/>
            <a:ext cx="5739765" cy="22225"/>
            <a:chOff x="914400" y="5537200"/>
            <a:chExt cx="5739765" cy="22225"/>
          </a:xfrm>
        </p:grpSpPr>
        <p:sp>
          <p:nvSpPr>
            <p:cNvPr id="10" name="object 10" descr=""/>
            <p:cNvSpPr/>
            <p:nvPr/>
          </p:nvSpPr>
          <p:spPr>
            <a:xfrm>
              <a:off x="914400" y="5537199"/>
              <a:ext cx="5734050" cy="19050"/>
            </a:xfrm>
            <a:custGeom>
              <a:avLst/>
              <a:gdLst/>
              <a:ahLst/>
              <a:cxnLst/>
              <a:rect l="l" t="t" r="r" b="b"/>
              <a:pathLst>
                <a:path w="5734050" h="19050">
                  <a:moveTo>
                    <a:pt x="573405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5734050" y="19050"/>
                  </a:lnTo>
                  <a:lnTo>
                    <a:pt x="573405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647434" y="554037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50" y="63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915035" y="5540374"/>
              <a:ext cx="5739130" cy="12700"/>
            </a:xfrm>
            <a:custGeom>
              <a:avLst/>
              <a:gdLst/>
              <a:ahLst/>
              <a:cxnLst/>
              <a:rect l="l" t="t" r="r" b="b"/>
              <a:pathLst>
                <a:path w="5739130" h="12700">
                  <a:moveTo>
                    <a:pt x="6350" y="6350"/>
                  </a:moveTo>
                  <a:lnTo>
                    <a:pt x="0" y="6350"/>
                  </a:lnTo>
                  <a:lnTo>
                    <a:pt x="0" y="12700"/>
                  </a:lnTo>
                  <a:lnTo>
                    <a:pt x="6350" y="12700"/>
                  </a:lnTo>
                  <a:lnTo>
                    <a:pt x="6350" y="6350"/>
                  </a:lnTo>
                  <a:close/>
                </a:path>
                <a:path w="5739130" h="12700">
                  <a:moveTo>
                    <a:pt x="5738736" y="0"/>
                  </a:moveTo>
                  <a:lnTo>
                    <a:pt x="5732386" y="0"/>
                  </a:lnTo>
                  <a:lnTo>
                    <a:pt x="5732386" y="6350"/>
                  </a:lnTo>
                  <a:lnTo>
                    <a:pt x="5738736" y="6350"/>
                  </a:lnTo>
                  <a:lnTo>
                    <a:pt x="573873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647434" y="554672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50" y="63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915035" y="555307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50" y="63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15035" y="5553074"/>
              <a:ext cx="5739130" cy="6350"/>
            </a:xfrm>
            <a:custGeom>
              <a:avLst/>
              <a:gdLst/>
              <a:ahLst/>
              <a:cxnLst/>
              <a:rect l="l" t="t" r="r" b="b"/>
              <a:pathLst>
                <a:path w="5739130" h="6350">
                  <a:moveTo>
                    <a:pt x="5738736" y="0"/>
                  </a:moveTo>
                  <a:lnTo>
                    <a:pt x="5732513" y="0"/>
                  </a:lnTo>
                  <a:lnTo>
                    <a:pt x="5732386" y="0"/>
                  </a:lnTo>
                  <a:lnTo>
                    <a:pt x="635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6350" y="6350"/>
                  </a:lnTo>
                  <a:lnTo>
                    <a:pt x="5732386" y="6350"/>
                  </a:lnTo>
                  <a:lnTo>
                    <a:pt x="5732513" y="6350"/>
                  </a:lnTo>
                  <a:lnTo>
                    <a:pt x="5738736" y="6350"/>
                  </a:lnTo>
                  <a:lnTo>
                    <a:pt x="573873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914400" y="8178800"/>
            <a:ext cx="5739765" cy="24130"/>
            <a:chOff x="914400" y="8178800"/>
            <a:chExt cx="5739765" cy="24130"/>
          </a:xfrm>
        </p:grpSpPr>
        <p:sp>
          <p:nvSpPr>
            <p:cNvPr id="17" name="object 17" descr=""/>
            <p:cNvSpPr/>
            <p:nvPr/>
          </p:nvSpPr>
          <p:spPr>
            <a:xfrm>
              <a:off x="914400" y="8178799"/>
              <a:ext cx="5734050" cy="19050"/>
            </a:xfrm>
            <a:custGeom>
              <a:avLst/>
              <a:gdLst/>
              <a:ahLst/>
              <a:cxnLst/>
              <a:rect l="l" t="t" r="r" b="b"/>
              <a:pathLst>
                <a:path w="5734050" h="19050">
                  <a:moveTo>
                    <a:pt x="573405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5734050" y="19050"/>
                  </a:lnTo>
                  <a:lnTo>
                    <a:pt x="573405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647434" y="8183499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50" y="63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915035" y="8183498"/>
              <a:ext cx="5739130" cy="12700"/>
            </a:xfrm>
            <a:custGeom>
              <a:avLst/>
              <a:gdLst/>
              <a:ahLst/>
              <a:cxnLst/>
              <a:rect l="l" t="t" r="r" b="b"/>
              <a:pathLst>
                <a:path w="5739130" h="12700">
                  <a:moveTo>
                    <a:pt x="6350" y="6350"/>
                  </a:moveTo>
                  <a:lnTo>
                    <a:pt x="0" y="6350"/>
                  </a:lnTo>
                  <a:lnTo>
                    <a:pt x="0" y="12700"/>
                  </a:lnTo>
                  <a:lnTo>
                    <a:pt x="6350" y="12700"/>
                  </a:lnTo>
                  <a:lnTo>
                    <a:pt x="6350" y="6350"/>
                  </a:lnTo>
                  <a:close/>
                </a:path>
                <a:path w="5739130" h="12700">
                  <a:moveTo>
                    <a:pt x="5738736" y="0"/>
                  </a:moveTo>
                  <a:lnTo>
                    <a:pt x="5732386" y="0"/>
                  </a:lnTo>
                  <a:lnTo>
                    <a:pt x="5732386" y="6350"/>
                  </a:lnTo>
                  <a:lnTo>
                    <a:pt x="5738736" y="6350"/>
                  </a:lnTo>
                  <a:lnTo>
                    <a:pt x="573873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647434" y="8189849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50" y="63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915035" y="8196199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50" y="63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915035" y="8196198"/>
              <a:ext cx="5739130" cy="6350"/>
            </a:xfrm>
            <a:custGeom>
              <a:avLst/>
              <a:gdLst/>
              <a:ahLst/>
              <a:cxnLst/>
              <a:rect l="l" t="t" r="r" b="b"/>
              <a:pathLst>
                <a:path w="5739130" h="6350">
                  <a:moveTo>
                    <a:pt x="5738736" y="0"/>
                  </a:moveTo>
                  <a:lnTo>
                    <a:pt x="5732513" y="0"/>
                  </a:lnTo>
                  <a:lnTo>
                    <a:pt x="5732386" y="0"/>
                  </a:lnTo>
                  <a:lnTo>
                    <a:pt x="635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6350" y="6350"/>
                  </a:lnTo>
                  <a:lnTo>
                    <a:pt x="5732386" y="6350"/>
                  </a:lnTo>
                  <a:lnTo>
                    <a:pt x="5732513" y="6350"/>
                  </a:lnTo>
                  <a:lnTo>
                    <a:pt x="5738736" y="6350"/>
                  </a:lnTo>
                  <a:lnTo>
                    <a:pt x="573873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902335" y="790501"/>
            <a:ext cx="5258435" cy="8331200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1600" b="1">
                <a:latin typeface="Calibri"/>
                <a:cs typeface="Calibri"/>
              </a:rPr>
              <a:t>Bonus</a:t>
            </a:r>
            <a:r>
              <a:rPr dirty="0" sz="1600" spc="-70" b="1">
                <a:latin typeface="Calibri"/>
                <a:cs typeface="Calibri"/>
              </a:rPr>
              <a:t> </a:t>
            </a:r>
            <a:r>
              <a:rPr dirty="0" sz="1600" spc="-10" b="1">
                <a:latin typeface="Calibri"/>
                <a:cs typeface="Calibri"/>
              </a:rPr>
              <a:t>Points</a:t>
            </a:r>
            <a:endParaRPr sz="16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680"/>
              </a:spcBef>
              <a:buSzPct val="71428"/>
              <a:buFont typeface="Symbol"/>
              <a:buChar char=""/>
              <a:tabLst>
                <a:tab pos="469900" algn="l"/>
              </a:tabLst>
            </a:pPr>
            <a:r>
              <a:rPr dirty="0" sz="1400" b="1">
                <a:latin typeface="Calibri"/>
                <a:cs typeface="Calibri"/>
              </a:rPr>
              <a:t>Milvus</a:t>
            </a:r>
            <a:r>
              <a:rPr dirty="0" sz="1400" spc="-45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vector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database</a:t>
            </a:r>
            <a:endParaRPr sz="14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620"/>
              </a:spcBef>
              <a:buSzPct val="71428"/>
              <a:buFont typeface="Symbol"/>
              <a:buChar char=""/>
              <a:tabLst>
                <a:tab pos="469900" algn="l"/>
              </a:tabLst>
            </a:pPr>
            <a:r>
              <a:rPr dirty="0" sz="1400">
                <a:latin typeface="Calibri"/>
                <a:cs typeface="Calibri"/>
              </a:rPr>
              <a:t>Advanced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retrieval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techniques</a:t>
            </a:r>
            <a:endParaRPr sz="14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625"/>
              </a:spcBef>
              <a:buSzPct val="71428"/>
              <a:buFont typeface="Symbol"/>
              <a:buChar char=""/>
              <a:tabLst>
                <a:tab pos="469900" algn="l"/>
              </a:tabLst>
            </a:pPr>
            <a:r>
              <a:rPr dirty="0" sz="1400">
                <a:latin typeface="Calibri"/>
                <a:cs typeface="Calibri"/>
              </a:rPr>
              <a:t>Clean</a:t>
            </a:r>
            <a:r>
              <a:rPr dirty="0" sz="1400" spc="-8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UI</a:t>
            </a:r>
            <a:endParaRPr sz="14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670"/>
              </a:spcBef>
              <a:buSzPct val="71428"/>
              <a:buFont typeface="Symbol"/>
              <a:buChar char=""/>
              <a:tabLst>
                <a:tab pos="469900" algn="l"/>
              </a:tabLst>
            </a:pPr>
            <a:r>
              <a:rPr dirty="0" sz="1400">
                <a:latin typeface="Calibri"/>
                <a:cs typeface="Calibri"/>
              </a:rPr>
              <a:t>Comprehensive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error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handling</a:t>
            </a:r>
            <a:endParaRPr sz="14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620"/>
              </a:spcBef>
              <a:buSzPct val="71428"/>
              <a:buFont typeface="Symbol"/>
              <a:buChar char=""/>
              <a:tabLst>
                <a:tab pos="469900" algn="l"/>
              </a:tabLst>
            </a:pPr>
            <a:r>
              <a:rPr dirty="0" sz="1400" spc="-10" b="1">
                <a:latin typeface="Calibri"/>
                <a:cs typeface="Calibri"/>
              </a:rPr>
              <a:t>Self-</a:t>
            </a:r>
            <a:r>
              <a:rPr dirty="0" sz="1400" b="1">
                <a:latin typeface="Calibri"/>
                <a:cs typeface="Calibri"/>
              </a:rPr>
              <a:t>Hosted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LLM</a:t>
            </a:r>
            <a:r>
              <a:rPr dirty="0" sz="1400" spc="-5" b="1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with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framework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like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Ollama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or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vLLM</a:t>
            </a:r>
            <a:endParaRPr sz="14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620"/>
              </a:spcBef>
              <a:buSzPct val="71428"/>
              <a:buFont typeface="Symbol"/>
              <a:buChar char=""/>
              <a:tabLst>
                <a:tab pos="469900" algn="l"/>
              </a:tabLst>
            </a:pPr>
            <a:r>
              <a:rPr dirty="0" sz="1400" b="1">
                <a:latin typeface="Calibri"/>
                <a:cs typeface="Calibri"/>
              </a:rPr>
              <a:t>MCP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(Model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Context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Protocol)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Servers</a:t>
            </a:r>
            <a:r>
              <a:rPr dirty="0" sz="1400" spc="-15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-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Build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or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MCP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servers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00" spc="-10" b="1">
                <a:latin typeface="Calibri"/>
                <a:cs typeface="Calibri"/>
              </a:rPr>
              <a:t>Submissions</a:t>
            </a:r>
            <a:endParaRPr sz="16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680"/>
              </a:spcBef>
              <a:buAutoNum type="arabicPeriod"/>
              <a:tabLst>
                <a:tab pos="189230" algn="l"/>
              </a:tabLst>
            </a:pPr>
            <a:r>
              <a:rPr dirty="0" sz="1400" b="1">
                <a:latin typeface="Calibri"/>
                <a:cs typeface="Calibri"/>
              </a:rPr>
              <a:t>GitHub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Repository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(Public)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1400">
                <a:latin typeface="Calibri"/>
                <a:cs typeface="Calibri"/>
              </a:rPr>
              <a:t>Must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include:</a:t>
            </a:r>
            <a:endParaRPr sz="14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620"/>
              </a:spcBef>
              <a:buSzPct val="71428"/>
              <a:buFont typeface="Symbol"/>
              <a:buChar char=""/>
              <a:tabLst>
                <a:tab pos="469900" algn="l"/>
              </a:tabLst>
            </a:pPr>
            <a:r>
              <a:rPr dirty="0" sz="1400" spc="-10">
                <a:latin typeface="Calibri"/>
                <a:cs typeface="Calibri"/>
              </a:rPr>
              <a:t>Complete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working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code</a:t>
            </a:r>
            <a:endParaRPr sz="14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625"/>
              </a:spcBef>
              <a:buSzPct val="71428"/>
              <a:buFont typeface="Symbol"/>
              <a:buChar char=""/>
              <a:tabLst>
                <a:tab pos="469900" algn="l"/>
              </a:tabLst>
            </a:pPr>
            <a:r>
              <a:rPr dirty="0" sz="1400" spc="-10">
                <a:latin typeface="Calibri"/>
                <a:cs typeface="Calibri"/>
              </a:rPr>
              <a:t>README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with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setup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instructions</a:t>
            </a:r>
            <a:endParaRPr sz="14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615"/>
              </a:spcBef>
              <a:buSzPct val="71428"/>
              <a:buFont typeface="Symbol"/>
              <a:buChar char=""/>
              <a:tabLst>
                <a:tab pos="469900" algn="l"/>
              </a:tabLst>
            </a:pPr>
            <a:r>
              <a:rPr dirty="0" sz="1400" spc="-10">
                <a:latin typeface="Calibri"/>
                <a:cs typeface="Calibri"/>
              </a:rPr>
              <a:t>Sample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(if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applicable)</a:t>
            </a:r>
            <a:endParaRPr sz="14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625"/>
              </a:spcBef>
              <a:buSzPct val="71428"/>
              <a:buFont typeface="Symbol"/>
              <a:buChar char=""/>
              <a:tabLst>
                <a:tab pos="469900" algn="l"/>
              </a:tabLst>
            </a:pPr>
            <a:r>
              <a:rPr dirty="0" sz="1400" spc="-10">
                <a:latin typeface="Calibri"/>
                <a:cs typeface="Calibri"/>
              </a:rPr>
              <a:t>Requirements</a:t>
            </a:r>
            <a:r>
              <a:rPr dirty="0" sz="140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file</a:t>
            </a:r>
            <a:endParaRPr sz="1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260"/>
              </a:spcBef>
              <a:buFont typeface="Symbol"/>
              <a:buChar char=""/>
            </a:pPr>
            <a:endParaRPr sz="14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189230" algn="l"/>
              </a:tabLst>
            </a:pPr>
            <a:r>
              <a:rPr dirty="0" sz="1400" b="1">
                <a:latin typeface="Calibri"/>
                <a:cs typeface="Calibri"/>
              </a:rPr>
              <a:t>System</a:t>
            </a:r>
            <a:r>
              <a:rPr dirty="0" sz="1400" spc="-4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Design</a:t>
            </a:r>
            <a:r>
              <a:rPr dirty="0" sz="1400" spc="-5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Document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spc="-20" b="1">
                <a:latin typeface="Calibri"/>
                <a:cs typeface="Calibri"/>
              </a:rPr>
              <a:t>(PDF)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400">
                <a:latin typeface="Calibri"/>
                <a:cs typeface="Calibri"/>
              </a:rPr>
              <a:t>Must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explain:</a:t>
            </a:r>
            <a:endParaRPr sz="14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620"/>
              </a:spcBef>
              <a:buSzPct val="71428"/>
              <a:buFont typeface="Symbol"/>
              <a:buChar char=""/>
              <a:tabLst>
                <a:tab pos="469900" algn="l"/>
              </a:tabLst>
            </a:pPr>
            <a:r>
              <a:rPr dirty="0" sz="1400">
                <a:latin typeface="Calibri"/>
                <a:cs typeface="Calibri"/>
              </a:rPr>
              <a:t>System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architecture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diagram</a:t>
            </a:r>
            <a:endParaRPr sz="14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625"/>
              </a:spcBef>
              <a:buSzPct val="71428"/>
              <a:buFont typeface="Symbol"/>
              <a:buChar char=""/>
              <a:tabLst>
                <a:tab pos="469900" algn="l"/>
              </a:tabLst>
            </a:pPr>
            <a:r>
              <a:rPr dirty="0" sz="1400" spc="-10">
                <a:latin typeface="Calibri"/>
                <a:cs typeface="Calibri"/>
              </a:rPr>
              <a:t>Agentic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workflow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design</a:t>
            </a:r>
            <a:endParaRPr sz="14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620"/>
              </a:spcBef>
              <a:buSzPct val="71428"/>
              <a:buFont typeface="Symbol"/>
              <a:buChar char=""/>
              <a:tabLst>
                <a:tab pos="469900" algn="l"/>
              </a:tabLst>
            </a:pPr>
            <a:r>
              <a:rPr dirty="0" sz="1400" spc="-10">
                <a:latin typeface="Calibri"/>
                <a:cs typeface="Calibri"/>
              </a:rPr>
              <a:t>Context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construction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strategy</a:t>
            </a:r>
            <a:endParaRPr sz="14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670"/>
              </a:spcBef>
              <a:buSzPct val="71428"/>
              <a:buFont typeface="Symbol"/>
              <a:buChar char=""/>
              <a:tabLst>
                <a:tab pos="469900" algn="l"/>
              </a:tabLst>
            </a:pPr>
            <a:r>
              <a:rPr dirty="0" sz="1400">
                <a:latin typeface="Calibri"/>
                <a:cs typeface="Calibri"/>
              </a:rPr>
              <a:t>Technology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choices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rationale</a:t>
            </a:r>
            <a:endParaRPr sz="14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620"/>
              </a:spcBef>
              <a:buSzPct val="71428"/>
              <a:buFont typeface="Symbol"/>
              <a:buChar char=""/>
              <a:tabLst>
                <a:tab pos="469900" algn="l"/>
              </a:tabLst>
            </a:pPr>
            <a:r>
              <a:rPr dirty="0" sz="1400">
                <a:latin typeface="Calibri"/>
                <a:cs typeface="Calibri"/>
              </a:rPr>
              <a:t>Key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design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decisions</a:t>
            </a:r>
            <a:endParaRPr sz="14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625"/>
              </a:spcBef>
              <a:buSzPct val="71428"/>
              <a:buFont typeface="Symbol"/>
              <a:buChar char=""/>
              <a:tabLst>
                <a:tab pos="469900" algn="l"/>
              </a:tabLst>
            </a:pPr>
            <a:r>
              <a:rPr dirty="0" sz="1400" spc="-10">
                <a:latin typeface="Calibri"/>
                <a:cs typeface="Calibri"/>
              </a:rPr>
              <a:t>Limitations</a:t>
            </a:r>
            <a:endParaRPr sz="1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210"/>
              </a:spcBef>
              <a:buFont typeface="Symbol"/>
              <a:buChar char=""/>
            </a:pPr>
            <a:endParaRPr sz="14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buAutoNum type="arabicPeriod" startAt="3"/>
              <a:tabLst>
                <a:tab pos="189230" algn="l"/>
              </a:tabLst>
            </a:pPr>
            <a:r>
              <a:rPr dirty="0" sz="1400" b="1">
                <a:latin typeface="Calibri"/>
                <a:cs typeface="Calibri"/>
              </a:rPr>
              <a:t>Video</a:t>
            </a:r>
            <a:r>
              <a:rPr dirty="0" sz="1400" spc="-1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Recording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(~3</a:t>
            </a:r>
            <a:r>
              <a:rPr dirty="0" sz="1400" spc="-1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minutes)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400">
                <a:latin typeface="Calibri"/>
                <a:cs typeface="Calibri"/>
              </a:rPr>
              <a:t>Must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demonstrate:</a:t>
            </a:r>
            <a:endParaRPr sz="14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675"/>
              </a:spcBef>
              <a:buSzPct val="71428"/>
              <a:buFont typeface="Symbol"/>
              <a:buChar char=""/>
              <a:tabLst>
                <a:tab pos="469900" algn="l"/>
              </a:tabLst>
            </a:pPr>
            <a:r>
              <a:rPr dirty="0" sz="1400">
                <a:latin typeface="Calibri"/>
                <a:cs typeface="Calibri"/>
              </a:rPr>
              <a:t>System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flow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functionality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914400" y="9353550"/>
            <a:ext cx="5739765" cy="24765"/>
            <a:chOff x="914400" y="9353550"/>
            <a:chExt cx="5739765" cy="24765"/>
          </a:xfrm>
        </p:grpSpPr>
        <p:sp>
          <p:nvSpPr>
            <p:cNvPr id="25" name="object 25" descr=""/>
            <p:cNvSpPr/>
            <p:nvPr/>
          </p:nvSpPr>
          <p:spPr>
            <a:xfrm>
              <a:off x="914400" y="9353549"/>
              <a:ext cx="5734050" cy="19050"/>
            </a:xfrm>
            <a:custGeom>
              <a:avLst/>
              <a:gdLst/>
              <a:ahLst/>
              <a:cxnLst/>
              <a:rect l="l" t="t" r="r" b="b"/>
              <a:pathLst>
                <a:path w="5734050" h="19050">
                  <a:moveTo>
                    <a:pt x="573405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5734050" y="19050"/>
                  </a:lnTo>
                  <a:lnTo>
                    <a:pt x="573405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647434" y="9359264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915035" y="9359264"/>
              <a:ext cx="5739130" cy="12700"/>
            </a:xfrm>
            <a:custGeom>
              <a:avLst/>
              <a:gdLst/>
              <a:ahLst/>
              <a:cxnLst/>
              <a:rect l="l" t="t" r="r" b="b"/>
              <a:pathLst>
                <a:path w="5739130" h="12700">
                  <a:moveTo>
                    <a:pt x="6350" y="6350"/>
                  </a:moveTo>
                  <a:lnTo>
                    <a:pt x="0" y="6350"/>
                  </a:lnTo>
                  <a:lnTo>
                    <a:pt x="0" y="12700"/>
                  </a:lnTo>
                  <a:lnTo>
                    <a:pt x="6350" y="12700"/>
                  </a:lnTo>
                  <a:lnTo>
                    <a:pt x="6350" y="6350"/>
                  </a:lnTo>
                  <a:close/>
                </a:path>
                <a:path w="5739130" h="12700">
                  <a:moveTo>
                    <a:pt x="5738736" y="0"/>
                  </a:moveTo>
                  <a:lnTo>
                    <a:pt x="5732386" y="0"/>
                  </a:lnTo>
                  <a:lnTo>
                    <a:pt x="5732386" y="6350"/>
                  </a:lnTo>
                  <a:lnTo>
                    <a:pt x="5738736" y="6350"/>
                  </a:lnTo>
                  <a:lnTo>
                    <a:pt x="573873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6647434" y="9365614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915035" y="937196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915035" y="9371964"/>
              <a:ext cx="5739130" cy="6350"/>
            </a:xfrm>
            <a:custGeom>
              <a:avLst/>
              <a:gdLst/>
              <a:ahLst/>
              <a:cxnLst/>
              <a:rect l="l" t="t" r="r" b="b"/>
              <a:pathLst>
                <a:path w="5739130" h="6350">
                  <a:moveTo>
                    <a:pt x="5738736" y="0"/>
                  </a:moveTo>
                  <a:lnTo>
                    <a:pt x="5732513" y="0"/>
                  </a:lnTo>
                  <a:lnTo>
                    <a:pt x="5732386" y="0"/>
                  </a:lnTo>
                  <a:lnTo>
                    <a:pt x="635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6350" y="6350"/>
                  </a:lnTo>
                  <a:lnTo>
                    <a:pt x="5732386" y="6350"/>
                  </a:lnTo>
                  <a:lnTo>
                    <a:pt x="5732513" y="6350"/>
                  </a:lnTo>
                  <a:lnTo>
                    <a:pt x="5738736" y="6350"/>
                  </a:lnTo>
                  <a:lnTo>
                    <a:pt x="573873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2578100"/>
            <a:ext cx="5739765" cy="20955"/>
            <a:chOff x="914400" y="2578100"/>
            <a:chExt cx="5739765" cy="20955"/>
          </a:xfrm>
        </p:grpSpPr>
        <p:sp>
          <p:nvSpPr>
            <p:cNvPr id="3" name="object 3" descr=""/>
            <p:cNvSpPr/>
            <p:nvPr/>
          </p:nvSpPr>
          <p:spPr>
            <a:xfrm>
              <a:off x="914400" y="2578099"/>
              <a:ext cx="5734050" cy="19050"/>
            </a:xfrm>
            <a:custGeom>
              <a:avLst/>
              <a:gdLst/>
              <a:ahLst/>
              <a:cxnLst/>
              <a:rect l="l" t="t" r="r" b="b"/>
              <a:pathLst>
                <a:path w="5734050" h="19050">
                  <a:moveTo>
                    <a:pt x="573405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5734050" y="19050"/>
                  </a:lnTo>
                  <a:lnTo>
                    <a:pt x="573405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647434" y="2579623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50" y="63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15035" y="2579623"/>
              <a:ext cx="5739130" cy="12700"/>
            </a:xfrm>
            <a:custGeom>
              <a:avLst/>
              <a:gdLst/>
              <a:ahLst/>
              <a:cxnLst/>
              <a:rect l="l" t="t" r="r" b="b"/>
              <a:pathLst>
                <a:path w="5739130" h="12700">
                  <a:moveTo>
                    <a:pt x="6350" y="6350"/>
                  </a:moveTo>
                  <a:lnTo>
                    <a:pt x="0" y="6350"/>
                  </a:lnTo>
                  <a:lnTo>
                    <a:pt x="0" y="12700"/>
                  </a:lnTo>
                  <a:lnTo>
                    <a:pt x="6350" y="12700"/>
                  </a:lnTo>
                  <a:lnTo>
                    <a:pt x="6350" y="6350"/>
                  </a:lnTo>
                  <a:close/>
                </a:path>
                <a:path w="5739130" h="12700">
                  <a:moveTo>
                    <a:pt x="5738736" y="0"/>
                  </a:moveTo>
                  <a:lnTo>
                    <a:pt x="5732386" y="0"/>
                  </a:lnTo>
                  <a:lnTo>
                    <a:pt x="5732386" y="6350"/>
                  </a:lnTo>
                  <a:lnTo>
                    <a:pt x="5738736" y="6350"/>
                  </a:lnTo>
                  <a:lnTo>
                    <a:pt x="573873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647434" y="2585974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50" y="63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15035" y="2592324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350" y="63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15035" y="2592323"/>
              <a:ext cx="5739130" cy="6350"/>
            </a:xfrm>
            <a:custGeom>
              <a:avLst/>
              <a:gdLst/>
              <a:ahLst/>
              <a:cxnLst/>
              <a:rect l="l" t="t" r="r" b="b"/>
              <a:pathLst>
                <a:path w="5739130" h="6350">
                  <a:moveTo>
                    <a:pt x="5738736" y="0"/>
                  </a:moveTo>
                  <a:lnTo>
                    <a:pt x="5732513" y="0"/>
                  </a:lnTo>
                  <a:lnTo>
                    <a:pt x="5732386" y="0"/>
                  </a:lnTo>
                  <a:lnTo>
                    <a:pt x="635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6350" y="6350"/>
                  </a:lnTo>
                  <a:lnTo>
                    <a:pt x="5732386" y="6350"/>
                  </a:lnTo>
                  <a:lnTo>
                    <a:pt x="5732513" y="6350"/>
                  </a:lnTo>
                  <a:lnTo>
                    <a:pt x="5738736" y="6350"/>
                  </a:lnTo>
                  <a:lnTo>
                    <a:pt x="573873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902335" y="790501"/>
            <a:ext cx="5351145" cy="2136140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1600" spc="-10" b="1">
                <a:latin typeface="Calibri"/>
                <a:cs typeface="Calibri"/>
              </a:rPr>
              <a:t>Submission</a:t>
            </a:r>
            <a:r>
              <a:rPr dirty="0" sz="1600" spc="5" b="1">
                <a:latin typeface="Calibri"/>
                <a:cs typeface="Calibri"/>
              </a:rPr>
              <a:t> </a:t>
            </a:r>
            <a:r>
              <a:rPr dirty="0" sz="1600" spc="-10" b="1">
                <a:latin typeface="Calibri"/>
                <a:cs typeface="Calibri"/>
              </a:rPr>
              <a:t>Instructions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z="1400" spc="-10">
                <a:latin typeface="Calibri"/>
                <a:cs typeface="Calibri"/>
              </a:rPr>
              <a:t>Submit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following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through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email:</a:t>
            </a:r>
            <a:endParaRPr sz="14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620"/>
              </a:spcBef>
              <a:buSzPct val="71428"/>
              <a:buFont typeface="Symbol"/>
              <a:buChar char=""/>
              <a:tabLst>
                <a:tab pos="469900" algn="l"/>
              </a:tabLst>
            </a:pPr>
            <a:r>
              <a:rPr dirty="0" sz="1400" spc="-10">
                <a:latin typeface="Calibri"/>
                <a:cs typeface="Calibri"/>
              </a:rPr>
              <a:t>GitHub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repository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URL</a:t>
            </a:r>
            <a:endParaRPr sz="14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625"/>
              </a:spcBef>
              <a:buSzPct val="71428"/>
              <a:buFont typeface="Symbol"/>
              <a:buChar char=""/>
              <a:tabLst>
                <a:tab pos="469900" algn="l"/>
              </a:tabLst>
            </a:pPr>
            <a:r>
              <a:rPr dirty="0" sz="1400">
                <a:latin typeface="Calibri"/>
                <a:cs typeface="Calibri"/>
              </a:rPr>
              <a:t>Video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recording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link</a:t>
            </a:r>
            <a:endParaRPr sz="14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670"/>
              </a:spcBef>
              <a:buSzPct val="71428"/>
              <a:buFont typeface="Symbol"/>
              <a:buChar char=""/>
              <a:tabLst>
                <a:tab pos="469900" algn="l"/>
              </a:tabLst>
            </a:pPr>
            <a:r>
              <a:rPr dirty="0" sz="1400">
                <a:latin typeface="Calibri"/>
                <a:cs typeface="Calibri"/>
              </a:rPr>
              <a:t>System</a:t>
            </a:r>
            <a:r>
              <a:rPr dirty="0" sz="1400" spc="-7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Design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Document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(PDF)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10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Calibri"/>
                <a:cs typeface="Calibri"/>
              </a:rPr>
              <a:t>Good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luck!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Show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us</a:t>
            </a:r>
            <a:r>
              <a:rPr dirty="0" sz="1400" spc="-4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how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you</a:t>
            </a:r>
            <a:r>
              <a:rPr dirty="0" sz="1400" spc="1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think</a:t>
            </a:r>
            <a:r>
              <a:rPr dirty="0" sz="1400" spc="-5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about</a:t>
            </a:r>
            <a:r>
              <a:rPr dirty="0" sz="1400" spc="-2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building</a:t>
            </a:r>
            <a:r>
              <a:rPr dirty="0" sz="1400" spc="-4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intelligent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AI </a:t>
            </a:r>
            <a:r>
              <a:rPr dirty="0" sz="1400" spc="-10" b="1">
                <a:latin typeface="Calibri"/>
                <a:cs typeface="Calibri"/>
              </a:rPr>
              <a:t>systems.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Un-named</dc:creator>
  <dcterms:created xsi:type="dcterms:W3CDTF">2026-02-01T08:52:10Z</dcterms:created>
  <dcterms:modified xsi:type="dcterms:W3CDTF">2026-02-01T08:52:10Z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2026-01-29T00:00:00Z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2026-02-01T00:00:00Z</vt:filetime>
  </property>
  <property fmtid="{D5CDD505-2E9C-101B-9397-08002B2CF9AE}" pid="5" name="Producer">
    <vt:lpwstr>Microsoft® Word 2021</vt:lpwstr>
  </property>
</Properties>
</file>